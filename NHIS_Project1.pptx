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623394f4f0715f7/Documents/final%20data%20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623394f4f0715f7/Documents/final%20data%20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623394f4f0715f7/Documents/final%20data%20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623394f4f0715f7/Documents/final%20data%20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623394f4f0715f7/Documents/final%20data%20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623394f4f0715f7/Documents/final%20data%201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623394f4f0715f7/Documents/final%20data%20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623394f4f0715f7/Documents/final%20data%201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623394f4f0715f7/Documents/final%20data%201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data 1.xlsx]booked as per days!PivotTable4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booked as</a:t>
            </a:r>
            <a:r>
              <a:rPr lang="en-US" baseline="0"/>
              <a:t> per days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'booked as per days'!$B$3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'booked as per days'!$A$4:$A$8</c:f>
              <c:strCache>
                <c:ptCount val="4"/>
                <c:pt idx="0">
                  <c:v>holiday</c:v>
                </c:pt>
                <c:pt idx="1">
                  <c:v>weekend</c:v>
                </c:pt>
                <c:pt idx="2">
                  <c:v>working day</c:v>
                </c:pt>
                <c:pt idx="3">
                  <c:v>(blank)</c:v>
                </c:pt>
              </c:strCache>
            </c:strRef>
          </c:cat>
          <c:val>
            <c:numRef>
              <c:f>'booked as per days'!$B$4:$B$8</c:f>
              <c:numCache>
                <c:formatCode>General</c:formatCode>
                <c:ptCount val="4"/>
                <c:pt idx="0">
                  <c:v>8121</c:v>
                </c:pt>
                <c:pt idx="1">
                  <c:v>8450</c:v>
                </c:pt>
                <c:pt idx="2">
                  <c:v>41733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5B-428F-8D97-8C32E33B9D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74131759"/>
        <c:axId val="2074133679"/>
      </c:barChart>
      <c:catAx>
        <c:axId val="2074131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4133679"/>
        <c:crosses val="autoZero"/>
        <c:auto val="1"/>
        <c:lblAlgn val="ctr"/>
        <c:lblOffset val="100"/>
        <c:noMultiLvlLbl val="0"/>
      </c:catAx>
      <c:valAx>
        <c:axId val="2074133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4131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data 1.xlsx]bikes booked as per hour!PivotTable1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Bikes</a:t>
            </a:r>
            <a:r>
              <a:rPr lang="en-US" baseline="0"/>
              <a:t> booked </a:t>
            </a:r>
            <a:endParaRPr lang="en-US"/>
          </a:p>
        </c:rich>
      </c:tx>
      <c:layout>
        <c:manualLayout>
          <c:xMode val="edge"/>
          <c:yMode val="edge"/>
          <c:x val="0.43972222222222224"/>
          <c:y val="0.1193496646252551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'bikes booked as per hour'!$B$3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'bikes booked as per hour'!$A$4:$A$29</c:f>
              <c:strCach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(blank)</c:v>
                </c:pt>
              </c:strCache>
            </c:strRef>
          </c:cat>
          <c:val>
            <c:numRef>
              <c:f>'bikes booked as per hour'!$B$4:$B$29</c:f>
              <c:numCache>
                <c:formatCode>General</c:formatCode>
                <c:ptCount val="25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1C-46AD-8D2A-69493EA8BE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74836495"/>
        <c:axId val="274851855"/>
      </c:barChart>
      <c:catAx>
        <c:axId val="274836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851855"/>
        <c:crosses val="autoZero"/>
        <c:auto val="1"/>
        <c:lblAlgn val="ctr"/>
        <c:lblOffset val="100"/>
        <c:noMultiLvlLbl val="0"/>
      </c:catAx>
      <c:valAx>
        <c:axId val="274851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836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data 1.xlsx]bikes booked as per dates!PivotTable2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booked</a:t>
            </a:r>
            <a:r>
              <a:rPr lang="en-US" baseline="0"/>
              <a:t> as per month</a:t>
            </a:r>
            <a:r>
              <a:rPr lang="en-US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'bikes booked as per dates'!$B$3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'bikes booked as per dates'!$A$4:$A$5</c:f>
              <c:strCache>
                <c:ptCount val="1"/>
                <c:pt idx="0">
                  <c:v>Jan</c:v>
                </c:pt>
              </c:strCache>
            </c:strRef>
          </c:cat>
          <c:val>
            <c:numRef>
              <c:f>'bikes booked as per dates'!$B$4:$B$5</c:f>
              <c:numCache>
                <c:formatCode>General</c:formatCode>
                <c:ptCount val="1"/>
                <c:pt idx="0">
                  <c:v>1162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BE-4999-BB45-C05D3D708D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74815855"/>
        <c:axId val="274808175"/>
      </c:barChart>
      <c:catAx>
        <c:axId val="274815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808175"/>
        <c:crosses val="autoZero"/>
        <c:auto val="1"/>
        <c:lblAlgn val="ctr"/>
        <c:lblOffset val="100"/>
        <c:noMultiLvlLbl val="0"/>
      </c:catAx>
      <c:valAx>
        <c:axId val="274808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815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data 1.xlsx]booked as per windspeed!PivotTable3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booked</a:t>
            </a:r>
            <a:r>
              <a:rPr lang="en-US" baseline="0"/>
              <a:t>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'booked as per windspeed'!$B$3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'booked as per windspeed'!$A$4:$A$25</c:f>
              <c:strCache>
                <c:ptCount val="21"/>
                <c:pt idx="0">
                  <c:v>0</c:v>
                </c:pt>
                <c:pt idx="1">
                  <c:v>0.0896</c:v>
                </c:pt>
                <c:pt idx="2">
                  <c:v>0.1045</c:v>
                </c:pt>
                <c:pt idx="3">
                  <c:v>0.1343</c:v>
                </c:pt>
                <c:pt idx="4">
                  <c:v>0.1642</c:v>
                </c:pt>
                <c:pt idx="5">
                  <c:v>0.194</c:v>
                </c:pt>
                <c:pt idx="6">
                  <c:v>0.2239</c:v>
                </c:pt>
                <c:pt idx="7">
                  <c:v>0.2537</c:v>
                </c:pt>
                <c:pt idx="8">
                  <c:v>0.2836</c:v>
                </c:pt>
                <c:pt idx="9">
                  <c:v>0.2985</c:v>
                </c:pt>
                <c:pt idx="10">
                  <c:v>0.3284</c:v>
                </c:pt>
                <c:pt idx="11">
                  <c:v>0.3582</c:v>
                </c:pt>
                <c:pt idx="12">
                  <c:v>0.3881</c:v>
                </c:pt>
                <c:pt idx="13">
                  <c:v>0.4179</c:v>
                </c:pt>
                <c:pt idx="14">
                  <c:v>0.4478</c:v>
                </c:pt>
                <c:pt idx="15">
                  <c:v>0.4627</c:v>
                </c:pt>
                <c:pt idx="16">
                  <c:v>0.4925</c:v>
                </c:pt>
                <c:pt idx="17">
                  <c:v>0.5224</c:v>
                </c:pt>
                <c:pt idx="18">
                  <c:v>0.5522</c:v>
                </c:pt>
                <c:pt idx="19">
                  <c:v>0.5821</c:v>
                </c:pt>
                <c:pt idx="20">
                  <c:v>(blank)</c:v>
                </c:pt>
              </c:strCache>
            </c:strRef>
          </c:cat>
          <c:val>
            <c:numRef>
              <c:f>'booked as per windspeed'!$B$4:$B$25</c:f>
              <c:numCache>
                <c:formatCode>General</c:formatCode>
                <c:ptCount val="21"/>
                <c:pt idx="0">
                  <c:v>7845</c:v>
                </c:pt>
                <c:pt idx="1">
                  <c:v>4149</c:v>
                </c:pt>
                <c:pt idx="2">
                  <c:v>4350</c:v>
                </c:pt>
                <c:pt idx="3">
                  <c:v>5261</c:v>
                </c:pt>
                <c:pt idx="4">
                  <c:v>5609</c:v>
                </c:pt>
                <c:pt idx="5">
                  <c:v>4668</c:v>
                </c:pt>
                <c:pt idx="6">
                  <c:v>3546</c:v>
                </c:pt>
                <c:pt idx="7">
                  <c:v>4074</c:v>
                </c:pt>
                <c:pt idx="8">
                  <c:v>3516</c:v>
                </c:pt>
                <c:pt idx="9">
                  <c:v>2872</c:v>
                </c:pt>
                <c:pt idx="10">
                  <c:v>3608</c:v>
                </c:pt>
                <c:pt idx="11">
                  <c:v>2069</c:v>
                </c:pt>
                <c:pt idx="12">
                  <c:v>1250</c:v>
                </c:pt>
                <c:pt idx="13">
                  <c:v>1432</c:v>
                </c:pt>
                <c:pt idx="14">
                  <c:v>1107</c:v>
                </c:pt>
                <c:pt idx="15">
                  <c:v>881</c:v>
                </c:pt>
                <c:pt idx="16">
                  <c:v>629</c:v>
                </c:pt>
                <c:pt idx="17">
                  <c:v>682</c:v>
                </c:pt>
                <c:pt idx="18">
                  <c:v>374</c:v>
                </c:pt>
                <c:pt idx="19">
                  <c:v>382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29-4870-8018-30E74F2196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1221599"/>
        <c:axId val="181225439"/>
      </c:lineChart>
      <c:catAx>
        <c:axId val="181221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225439"/>
        <c:crosses val="autoZero"/>
        <c:auto val="1"/>
        <c:lblAlgn val="ctr"/>
        <c:lblOffset val="100"/>
        <c:noMultiLvlLbl val="0"/>
      </c:catAx>
      <c:valAx>
        <c:axId val="181225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221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data 1.xlsx]as per weather!PivotTable1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Bike booked as per</a:t>
            </a:r>
            <a:r>
              <a:rPr lang="en-US" baseline="0"/>
              <a:t> weather</a:t>
            </a:r>
            <a:endParaRPr lang="en-US"/>
          </a:p>
        </c:rich>
      </c:tx>
      <c:layout>
        <c:manualLayout>
          <c:xMode val="edge"/>
          <c:yMode val="edge"/>
          <c:x val="0.3192780712165697"/>
          <c:y val="0.108856742279862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'as per weather'!$B$3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3FD-4D54-94A1-0107058F91F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3FD-4D54-94A1-0107058F91F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3FD-4D54-94A1-0107058F91F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3FD-4D54-94A1-0107058F91F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3FD-4D54-94A1-0107058F91F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 per weather'!$A$4:$A$9</c:f>
              <c:strCache>
                <c:ptCount val="5"/>
                <c:pt idx="0">
                  <c:v>extremerain</c:v>
                </c:pt>
                <c:pt idx="1">
                  <c:v>lightrain</c:v>
                </c:pt>
                <c:pt idx="2">
                  <c:v>mist</c:v>
                </c:pt>
                <c:pt idx="3">
                  <c:v>sunny</c:v>
                </c:pt>
                <c:pt idx="4">
                  <c:v>(blank)</c:v>
                </c:pt>
              </c:strCache>
            </c:strRef>
          </c:cat>
          <c:val>
            <c:numRef>
              <c:f>'as per weather'!$B$4:$B$9</c:f>
              <c:numCache>
                <c:formatCode>General</c:formatCode>
                <c:ptCount val="5"/>
                <c:pt idx="0">
                  <c:v>2825</c:v>
                </c:pt>
                <c:pt idx="1">
                  <c:v>18106</c:v>
                </c:pt>
                <c:pt idx="2">
                  <c:v>37373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3FD-4D54-94A1-0107058F91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data 1.xlsx]bikes booked as per hour!PivotTable1</c:name>
    <c:fmtId val="3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Bikes</a:t>
            </a:r>
            <a:r>
              <a:rPr lang="en-US" baseline="0"/>
              <a:t> booked as per hour</a:t>
            </a:r>
            <a:endParaRPr lang="en-US"/>
          </a:p>
        </c:rich>
      </c:tx>
      <c:layout>
        <c:manualLayout>
          <c:xMode val="edge"/>
          <c:yMode val="edge"/>
          <c:x val="0.28237231215663261"/>
          <c:y val="0.112023881630180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'bikes booked as per hour'!$B$3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'bikes booked as per hour'!$A$4:$A$29</c:f>
              <c:strCach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(blank)</c:v>
                </c:pt>
              </c:strCache>
            </c:strRef>
          </c:cat>
          <c:val>
            <c:numRef>
              <c:f>'bikes booked as per hour'!$B$4:$B$29</c:f>
              <c:numCache>
                <c:formatCode>General</c:formatCode>
                <c:ptCount val="25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11-41F7-A07B-0FDECF2712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74836495"/>
        <c:axId val="274851855"/>
      </c:barChart>
      <c:catAx>
        <c:axId val="274836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851855"/>
        <c:crosses val="autoZero"/>
        <c:auto val="1"/>
        <c:lblAlgn val="ctr"/>
        <c:lblOffset val="100"/>
        <c:noMultiLvlLbl val="0"/>
      </c:catAx>
      <c:valAx>
        <c:axId val="274851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836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data 1.xlsx]bikes booked as per dates!PivotTable2</c:name>
    <c:fmtId val="3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booked</a:t>
            </a:r>
            <a:r>
              <a:rPr lang="en-US" baseline="0"/>
              <a:t> as per month</a:t>
            </a:r>
            <a:r>
              <a:rPr lang="en-US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0692038495188101E-2"/>
          <c:y val="0.29549091085836493"/>
          <c:w val="0.74845603674540684"/>
          <c:h val="0.383658501020705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'bikes booked as per dates'!$B$3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'bikes booked as per dates'!$A$4:$A$5</c:f>
              <c:strCache>
                <c:ptCount val="1"/>
                <c:pt idx="0">
                  <c:v>Jan</c:v>
                </c:pt>
              </c:strCache>
            </c:strRef>
          </c:cat>
          <c:val>
            <c:numRef>
              <c:f>'bikes booked as per dates'!$B$4:$B$5</c:f>
              <c:numCache>
                <c:formatCode>General</c:formatCode>
                <c:ptCount val="1"/>
                <c:pt idx="0">
                  <c:v>1162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33-4576-B7F6-EC77FE4C65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74815855"/>
        <c:axId val="274808175"/>
      </c:barChart>
      <c:catAx>
        <c:axId val="274815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808175"/>
        <c:crosses val="autoZero"/>
        <c:auto val="1"/>
        <c:lblAlgn val="ctr"/>
        <c:lblOffset val="100"/>
        <c:noMultiLvlLbl val="0"/>
      </c:catAx>
      <c:valAx>
        <c:axId val="274808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815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data 1.xlsx]booked as per windspeed!PivotTable3</c:name>
    <c:fmtId val="3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bikes booked as per windspeed</a:t>
            </a:r>
            <a:r>
              <a:rPr lang="en-US" baseline="0"/>
              <a:t>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'booked as per windspeed'!$B$3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'booked as per windspeed'!$A$4:$A$25</c:f>
              <c:strCache>
                <c:ptCount val="21"/>
                <c:pt idx="0">
                  <c:v>0</c:v>
                </c:pt>
                <c:pt idx="1">
                  <c:v>0.0896</c:v>
                </c:pt>
                <c:pt idx="2">
                  <c:v>0.1045</c:v>
                </c:pt>
                <c:pt idx="3">
                  <c:v>0.1343</c:v>
                </c:pt>
                <c:pt idx="4">
                  <c:v>0.1642</c:v>
                </c:pt>
                <c:pt idx="5">
                  <c:v>0.194</c:v>
                </c:pt>
                <c:pt idx="6">
                  <c:v>0.2239</c:v>
                </c:pt>
                <c:pt idx="7">
                  <c:v>0.2537</c:v>
                </c:pt>
                <c:pt idx="8">
                  <c:v>0.2836</c:v>
                </c:pt>
                <c:pt idx="9">
                  <c:v>0.2985</c:v>
                </c:pt>
                <c:pt idx="10">
                  <c:v>0.3284</c:v>
                </c:pt>
                <c:pt idx="11">
                  <c:v>0.3582</c:v>
                </c:pt>
                <c:pt idx="12">
                  <c:v>0.3881</c:v>
                </c:pt>
                <c:pt idx="13">
                  <c:v>0.4179</c:v>
                </c:pt>
                <c:pt idx="14">
                  <c:v>0.4478</c:v>
                </c:pt>
                <c:pt idx="15">
                  <c:v>0.4627</c:v>
                </c:pt>
                <c:pt idx="16">
                  <c:v>0.4925</c:v>
                </c:pt>
                <c:pt idx="17">
                  <c:v>0.5224</c:v>
                </c:pt>
                <c:pt idx="18">
                  <c:v>0.5522</c:v>
                </c:pt>
                <c:pt idx="19">
                  <c:v>0.5821</c:v>
                </c:pt>
                <c:pt idx="20">
                  <c:v>(blank)</c:v>
                </c:pt>
              </c:strCache>
            </c:strRef>
          </c:cat>
          <c:val>
            <c:numRef>
              <c:f>'booked as per windspeed'!$B$4:$B$25</c:f>
              <c:numCache>
                <c:formatCode>General</c:formatCode>
                <c:ptCount val="21"/>
                <c:pt idx="0">
                  <c:v>7845</c:v>
                </c:pt>
                <c:pt idx="1">
                  <c:v>4149</c:v>
                </c:pt>
                <c:pt idx="2">
                  <c:v>4350</c:v>
                </c:pt>
                <c:pt idx="3">
                  <c:v>5261</c:v>
                </c:pt>
                <c:pt idx="4">
                  <c:v>5609</c:v>
                </c:pt>
                <c:pt idx="5">
                  <c:v>4668</c:v>
                </c:pt>
                <c:pt idx="6">
                  <c:v>3546</c:v>
                </c:pt>
                <c:pt idx="7">
                  <c:v>4074</c:v>
                </c:pt>
                <c:pt idx="8">
                  <c:v>3516</c:v>
                </c:pt>
                <c:pt idx="9">
                  <c:v>2872</c:v>
                </c:pt>
                <c:pt idx="10">
                  <c:v>3608</c:v>
                </c:pt>
                <c:pt idx="11">
                  <c:v>2069</c:v>
                </c:pt>
                <c:pt idx="12">
                  <c:v>1250</c:v>
                </c:pt>
                <c:pt idx="13">
                  <c:v>1432</c:v>
                </c:pt>
                <c:pt idx="14">
                  <c:v>1107</c:v>
                </c:pt>
                <c:pt idx="15">
                  <c:v>881</c:v>
                </c:pt>
                <c:pt idx="16">
                  <c:v>629</c:v>
                </c:pt>
                <c:pt idx="17">
                  <c:v>682</c:v>
                </c:pt>
                <c:pt idx="18">
                  <c:v>374</c:v>
                </c:pt>
                <c:pt idx="19">
                  <c:v>382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67-4D7D-BEC5-8793EB7362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1221599"/>
        <c:axId val="181225439"/>
      </c:lineChart>
      <c:catAx>
        <c:axId val="181221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225439"/>
        <c:crosses val="autoZero"/>
        <c:auto val="1"/>
        <c:lblAlgn val="ctr"/>
        <c:lblOffset val="100"/>
        <c:noMultiLvlLbl val="0"/>
      </c:catAx>
      <c:valAx>
        <c:axId val="181225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221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data 1.xlsx]booked as per days!PivotTable4</c:name>
    <c:fmtId val="4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booked as</a:t>
            </a:r>
            <a:r>
              <a:rPr lang="en-US" baseline="0"/>
              <a:t> per days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'booked as per days'!$B$3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'booked as per days'!$A$4:$A$8</c:f>
              <c:strCache>
                <c:ptCount val="4"/>
                <c:pt idx="0">
                  <c:v>holiday</c:v>
                </c:pt>
                <c:pt idx="1">
                  <c:v>weekend</c:v>
                </c:pt>
                <c:pt idx="2">
                  <c:v>working day</c:v>
                </c:pt>
                <c:pt idx="3">
                  <c:v>(blank)</c:v>
                </c:pt>
              </c:strCache>
            </c:strRef>
          </c:cat>
          <c:val>
            <c:numRef>
              <c:f>'booked as per days'!$B$4:$B$8</c:f>
              <c:numCache>
                <c:formatCode>General</c:formatCode>
                <c:ptCount val="4"/>
                <c:pt idx="0">
                  <c:v>8121</c:v>
                </c:pt>
                <c:pt idx="1">
                  <c:v>8450</c:v>
                </c:pt>
                <c:pt idx="2">
                  <c:v>41733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74-44DE-ADB2-BE293DBF92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74131759"/>
        <c:axId val="2074133679"/>
      </c:barChart>
      <c:catAx>
        <c:axId val="2074131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4133679"/>
        <c:crosses val="autoZero"/>
        <c:auto val="1"/>
        <c:lblAlgn val="ctr"/>
        <c:lblOffset val="100"/>
        <c:noMultiLvlLbl val="0"/>
      </c:catAx>
      <c:valAx>
        <c:axId val="2074133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4131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data 1.xlsx]as per weather!PivotTable1</c:name>
    <c:fmtId val="4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Bike booked as per</a:t>
            </a:r>
            <a:r>
              <a:rPr lang="en-US" baseline="0"/>
              <a:t> weather</a:t>
            </a:r>
            <a:endParaRPr lang="en-US"/>
          </a:p>
        </c:rich>
      </c:tx>
      <c:layout>
        <c:manualLayout>
          <c:xMode val="edge"/>
          <c:yMode val="edge"/>
          <c:x val="0.2394242424242424"/>
          <c:y val="0.1054607757363662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'as per weather'!$B$3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C15-4DC6-93FF-4C73124AD31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C15-4DC6-93FF-4C73124AD31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C15-4DC6-93FF-4C73124AD31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C15-4DC6-93FF-4C73124AD31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C15-4DC6-93FF-4C73124AD31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 per weather'!$A$4:$A$9</c:f>
              <c:strCache>
                <c:ptCount val="5"/>
                <c:pt idx="0">
                  <c:v>extremerain</c:v>
                </c:pt>
                <c:pt idx="1">
                  <c:v>lightrain</c:v>
                </c:pt>
                <c:pt idx="2">
                  <c:v>mist</c:v>
                </c:pt>
                <c:pt idx="3">
                  <c:v>sunny</c:v>
                </c:pt>
                <c:pt idx="4">
                  <c:v>(blank)</c:v>
                </c:pt>
              </c:strCache>
            </c:strRef>
          </c:cat>
          <c:val>
            <c:numRef>
              <c:f>'as per weather'!$B$4:$B$9</c:f>
              <c:numCache>
                <c:formatCode>General</c:formatCode>
                <c:ptCount val="5"/>
                <c:pt idx="0">
                  <c:v>2825</c:v>
                </c:pt>
                <c:pt idx="1">
                  <c:v>18106</c:v>
                </c:pt>
                <c:pt idx="2">
                  <c:v>37373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C15-4DC6-93FF-4C73124AD3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BABBE-6004-F1F8-A958-231C388C0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76B55-8A30-18FB-6A4D-EE6BCE754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D288F-4BCC-CFDD-6AD5-F0E43CDD0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FA68-C278-4DDA-AC64-1F0E9CD3D7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CCDD2-11A5-0A82-DF3D-3B391D4A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5097-B346-8F20-6F37-D9F39BE09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02A2-6B9C-4B90-9376-C6C9BFA9D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23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84EE-18C7-D3BA-F41B-1A73FC53D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A4640-4BB2-1505-4B6B-DE66E118E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D95DE-082F-4AFC-171A-5F27B090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FA68-C278-4DDA-AC64-1F0E9CD3D7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0FFEF-339C-4EDA-669B-1F5DBB1C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65CFE-7D61-BF14-D14B-87DF228B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02A2-6B9C-4B90-9376-C6C9BFA9D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3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08B3-DB7E-5D9F-DCA9-CBD5C746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49674-1BA9-D2D1-14B3-231BE3914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A95FC-DE2A-8159-C2C4-83143BDE5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FA68-C278-4DDA-AC64-1F0E9CD3D7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BD55D-3E3E-128A-71F5-47A588545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4CAE9-E92F-235E-646D-AA5300266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02A2-6B9C-4B90-9376-C6C9BFA9D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5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3ADCB-514B-78BC-D875-432080FB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535C9-905C-132B-BDF8-C35499B3C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1C9B3-330E-B478-14B8-C24725075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CEFE4-E13C-7909-07A2-95A9ACB75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FA68-C278-4DDA-AC64-1F0E9CD3D7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08617-9286-B78A-DA5D-4D907D502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09A38-C78C-6519-6A6C-170F5601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02A2-6B9C-4B90-9376-C6C9BFA9D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61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E9730-19F9-4B0A-9920-75E3D5AF5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2721F-DFB5-2580-15FF-2DDB8479A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178BE-666F-38E1-18FA-01DA67EC2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14F9A-08AF-6A59-2737-B821F77F8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F41CDD-2937-A5A3-CA96-CDC733FCC6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2363DB-2C91-8429-0C59-CF68079B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FA68-C278-4DDA-AC64-1F0E9CD3D7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A9E0D-E81B-00E7-67B1-1D541BE52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65E156-A931-20C9-6136-3A76DBAB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02A2-6B9C-4B90-9376-C6C9BFA9D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43E3-2E57-033C-9D05-F3529542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A08BC-189F-F26B-C9A6-88F636A96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FA68-C278-4DDA-AC64-1F0E9CD3D7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79D95-4DEF-3711-4A70-9F708C31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F0183D-9020-CF58-7A2B-4D89F679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02A2-6B9C-4B90-9376-C6C9BFA9D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2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4D688-A86E-B27B-C2D8-8523119EC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FA68-C278-4DDA-AC64-1F0E9CD3D7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02BDB6-DE99-99B9-961D-B584C0A4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AF166-2DEE-3CC0-0275-28D4072F2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02A2-6B9C-4B90-9376-C6C9BFA9D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3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C3D3E-743C-6F82-E2B1-49B5EBCFE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1DDC-5873-1ECD-9623-1076078C6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580B7-26C6-295C-DCC2-E8E9267C3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2399B-866C-5D74-1B25-D6D480C2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FA68-C278-4DDA-AC64-1F0E9CD3D7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EC1B4-E074-E1EC-0475-31476CFA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64082-2002-CC9B-CAC2-BA94FA730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02A2-6B9C-4B90-9376-C6C9BFA9D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02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1C440-F05C-499B-9DA2-45B8C506D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F053DF-7065-F137-5D48-9BA277A96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98463-F7FB-FEFB-F3CE-BB118A882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E2EDB-15D7-49EB-C7BD-D0CAF68EB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FA68-C278-4DDA-AC64-1F0E9CD3D7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BC864-BA3F-2905-0EF1-EC1F821F3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4DC29-F710-242A-2880-1B135B09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02A2-6B9C-4B90-9376-C6C9BFA9D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9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41840-6FD1-6FE5-4757-B7107088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5B355-A224-B737-B51A-D525DE56C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E8ABC-2C2B-2910-8AB7-20B50776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FA68-C278-4DDA-AC64-1F0E9CD3D7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6DBB8-3835-2F3C-B379-FADC8FA10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D8E91-664B-03BE-4098-8D60852E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02A2-6B9C-4B90-9376-C6C9BFA9D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0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1DC1CF-1E19-243B-35C8-CE1C0C879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56053-E0AB-97D6-9DAE-605BC7074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907B4-CF21-A9DB-D2B3-727D110D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FA68-C278-4DDA-AC64-1F0E9CD3D7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D60D1-0B48-394A-E924-4B8E31A2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541C5-08C7-67D1-9BA3-EBFD8AB27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02A2-6B9C-4B90-9376-C6C9BFA9D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5CCBA0-E964-2006-56A8-80844B40A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094DD-D1BE-5C76-2DCC-006024363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8C1CE-8F0F-8F1A-9B88-68019DE5C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7FA68-C278-4DDA-AC64-1F0E9CD3D7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4C5F3-BA84-FE12-1BA7-C8CDEF67C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080AC-193B-036D-6E06-F1246A1F4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E02A2-6B9C-4B90-9376-C6C9BFA9D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302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chart" Target="../charts/chart7.xml"/><Relationship Id="rId7" Type="http://schemas.openxmlformats.org/officeDocument/2006/relationships/image" Target="../media/image1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10" Type="http://schemas.openxmlformats.org/officeDocument/2006/relationships/image" Target="../media/image4.png"/><Relationship Id="rId4" Type="http://schemas.openxmlformats.org/officeDocument/2006/relationships/chart" Target="../charts/chart8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85B24-AA28-5302-BFE2-B0A43C778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Bikes on Rent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389E1-316E-A0C8-5A71-302511DF8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75824"/>
          </a:xfrm>
        </p:spPr>
        <p:txBody>
          <a:bodyPr/>
          <a:lstStyle/>
          <a:p>
            <a:r>
              <a:rPr lang="en-US" b="1" dirty="0"/>
              <a:t>Total</a:t>
            </a:r>
            <a:r>
              <a:rPr lang="en-US" dirty="0"/>
              <a:t> </a:t>
            </a:r>
            <a:r>
              <a:rPr lang="en-US" b="1" dirty="0"/>
              <a:t>booked bikes as per different situations</a:t>
            </a:r>
          </a:p>
        </p:txBody>
      </p:sp>
    </p:spTree>
    <p:extLst>
      <p:ext uri="{BB962C8B-B14F-4D97-AF65-F5344CB8AC3E}">
        <p14:creationId xmlns:p14="http://schemas.microsoft.com/office/powerpoint/2010/main" val="251875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ABAC-D7E1-4E06-5C32-E736011B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Booked as per days: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5070ED-1CBF-1259-1098-C529CE2CB2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1059529"/>
              </p:ext>
            </p:extLst>
          </p:nvPr>
        </p:nvGraphicFramePr>
        <p:xfrm>
          <a:off x="1340069" y="1828801"/>
          <a:ext cx="5670331" cy="1325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70331">
                  <a:extLst>
                    <a:ext uri="{9D8B030D-6E8A-4147-A177-3AD203B41FA5}">
                      <a16:colId xmlns:a16="http://schemas.microsoft.com/office/drawing/2014/main" val="1605517035"/>
                    </a:ext>
                  </a:extLst>
                </a:gridCol>
              </a:tblGrid>
              <a:tr h="4602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Days were in number from 0-6: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757655"/>
                  </a:ext>
                </a:extLst>
              </a:tr>
              <a:tr h="4050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 was considered as holiday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69891329"/>
                  </a:ext>
                </a:extLst>
              </a:tr>
              <a:tr h="4602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 was Sunday and so on…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65455763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6467913-F711-DB0A-16F9-AC494A7205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0093625"/>
              </p:ext>
            </p:extLst>
          </p:nvPr>
        </p:nvGraphicFramePr>
        <p:xfrm>
          <a:off x="1523999" y="3292477"/>
          <a:ext cx="7667297" cy="2934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56532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7469-7210-25D0-6F00-4EF0581B8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Bikes as per hour: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3EE98B-B467-962E-BE26-ACB7FD5F20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4258555"/>
              </p:ext>
            </p:extLst>
          </p:nvPr>
        </p:nvGraphicFramePr>
        <p:xfrm>
          <a:off x="838200" y="1825625"/>
          <a:ext cx="8652641" cy="39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2179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7C8E5-2DDF-58EB-70E0-67C28A32C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Bikes booked as per Days: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207399-8242-F3D0-63DE-F74E41335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3950617"/>
              </p:ext>
            </p:extLst>
          </p:nvPr>
        </p:nvGraphicFramePr>
        <p:xfrm>
          <a:off x="838200" y="1825625"/>
          <a:ext cx="8652641" cy="3771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26448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703DE-2F9A-53B4-809F-7F75DCE4A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Bikes booked as per windspeed: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13C286-21D0-7B67-7540-E1C853B01E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4173606"/>
              </p:ext>
            </p:extLst>
          </p:nvPr>
        </p:nvGraphicFramePr>
        <p:xfrm>
          <a:off x="838200" y="1825625"/>
          <a:ext cx="9078310" cy="3581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94252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9D0D-885A-CF9B-FD5B-E3EE172AD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Bikes booked as per weather: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CE944C-9060-BE23-C379-041FC41AE9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043924"/>
              </p:ext>
            </p:extLst>
          </p:nvPr>
        </p:nvGraphicFramePr>
        <p:xfrm>
          <a:off x="838201" y="1825625"/>
          <a:ext cx="8605344" cy="37396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63351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ADA71-8CD4-4B3A-A1DD-49B5911F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on Total bikes booked: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9A1F40-3EF8-EF5B-45A5-5300B80579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6021035"/>
              </p:ext>
            </p:extLst>
          </p:nvPr>
        </p:nvGraphicFramePr>
        <p:xfrm>
          <a:off x="0" y="1762125"/>
          <a:ext cx="6954486" cy="447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166">
                  <a:extLst>
                    <a:ext uri="{9D8B030D-6E8A-4147-A177-3AD203B41FA5}">
                      <a16:colId xmlns:a16="http://schemas.microsoft.com/office/drawing/2014/main" val="3832327475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3417744721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2493192273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552240806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2072545403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85446963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1314569983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51836858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4232467170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1469543773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1073777952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2636390471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818244654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2168102080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4272387109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617634096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2425064228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4228633262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735230296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1573084857"/>
                    </a:ext>
                  </a:extLst>
                </a:gridCol>
                <a:gridCol w="331166">
                  <a:extLst>
                    <a:ext uri="{9D8B030D-6E8A-4147-A177-3AD203B41FA5}">
                      <a16:colId xmlns:a16="http://schemas.microsoft.com/office/drawing/2014/main" val="641166078"/>
                    </a:ext>
                  </a:extLst>
                </a:gridCol>
              </a:tblGrid>
              <a:tr h="4859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Report on total bikes booked for rent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33952906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93034917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55390342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40149108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3787649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5566267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42061187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94061531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58295314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76065433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27415858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08259877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43926155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32860160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23068568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66228542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66445008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13982407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48922036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48782892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55446442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78496377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76111054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77396164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74183929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1326098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40939267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92384393"/>
                  </a:ext>
                </a:extLst>
              </a:tr>
              <a:tr h="138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84926019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03CB8D8-5873-495B-B44E-EE32FEC19F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4786630"/>
              </p:ext>
            </p:extLst>
          </p:nvPr>
        </p:nvGraphicFramePr>
        <p:xfrm>
          <a:off x="136976" y="2314575"/>
          <a:ext cx="2299220" cy="1733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03B4CDE-8A5C-4F64-B115-41A3B2C4F0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7076605"/>
              </p:ext>
            </p:extLst>
          </p:nvPr>
        </p:nvGraphicFramePr>
        <p:xfrm>
          <a:off x="3517436" y="2343150"/>
          <a:ext cx="1992182" cy="171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5BFBB98-8903-4752-A911-6F247E71BA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3819636"/>
              </p:ext>
            </p:extLst>
          </p:nvPr>
        </p:nvGraphicFramePr>
        <p:xfrm>
          <a:off x="231276" y="4343400"/>
          <a:ext cx="3391706" cy="1866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0D8249F-D4A7-469B-B158-76A35F2B12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5823520"/>
              </p:ext>
            </p:extLst>
          </p:nvPr>
        </p:nvGraphicFramePr>
        <p:xfrm>
          <a:off x="5144830" y="4419600"/>
          <a:ext cx="2791910" cy="1685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3A2732D-8495-410A-A7D8-FCA2A8DDBF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3481204"/>
              </p:ext>
            </p:extLst>
          </p:nvPr>
        </p:nvGraphicFramePr>
        <p:xfrm>
          <a:off x="6352002" y="2362200"/>
          <a:ext cx="1877934" cy="2028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0" name="table">
            <a:extLst>
              <a:ext uri="{FF2B5EF4-FFF2-40B4-BE49-F238E27FC236}">
                <a16:creationId xmlns:a16="http://schemas.microsoft.com/office/drawing/2014/main" id="{CA7102F8-101A-BB8D-A769-328820D22E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2237" y="1762125"/>
            <a:ext cx="1370963" cy="2524125"/>
          </a:xfrm>
          <a:prstGeom prst="rect">
            <a:avLst/>
          </a:prstGeom>
        </p:spPr>
      </p:pic>
      <p:pic>
        <p:nvPicPr>
          <p:cNvPr id="11" name="table">
            <a:extLst>
              <a:ext uri="{FF2B5EF4-FFF2-40B4-BE49-F238E27FC236}">
                <a16:creationId xmlns:a16="http://schemas.microsoft.com/office/drawing/2014/main" id="{F5C4FF88-6D65-4077-AC73-E0EF2029A1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1037" y="1781175"/>
            <a:ext cx="1370963" cy="2524125"/>
          </a:xfrm>
          <a:prstGeom prst="rect">
            <a:avLst/>
          </a:prstGeom>
        </p:spPr>
      </p:pic>
      <p:pic>
        <p:nvPicPr>
          <p:cNvPr id="12" name="table">
            <a:extLst>
              <a:ext uri="{FF2B5EF4-FFF2-40B4-BE49-F238E27FC236}">
                <a16:creationId xmlns:a16="http://schemas.microsoft.com/office/drawing/2014/main" id="{E07F3046-B41F-EBB2-AA59-97E0A0D1C7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1762" y="3819525"/>
            <a:ext cx="1370963" cy="2524125"/>
          </a:xfrm>
          <a:prstGeom prst="rect">
            <a:avLst/>
          </a:prstGeom>
        </p:spPr>
      </p:pic>
      <p:pic>
        <p:nvPicPr>
          <p:cNvPr id="13" name="table">
            <a:extLst>
              <a:ext uri="{FF2B5EF4-FFF2-40B4-BE49-F238E27FC236}">
                <a16:creationId xmlns:a16="http://schemas.microsoft.com/office/drawing/2014/main" id="{6657706A-B268-D7B8-5D3D-B15E4483DA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1037" y="4333875"/>
            <a:ext cx="1370963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199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725</Words>
  <Application>Microsoft Office PowerPoint</Application>
  <PresentationFormat>Widescreen</PresentationFormat>
  <Paragraphs>630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Bikes on Rent</vt:lpstr>
      <vt:lpstr>Booked as per days:</vt:lpstr>
      <vt:lpstr>Bikes as per hour:</vt:lpstr>
      <vt:lpstr>Bikes booked as per Days:</vt:lpstr>
      <vt:lpstr>Bikes booked as per windspeed:</vt:lpstr>
      <vt:lpstr>Bikes booked as per weather:</vt:lpstr>
      <vt:lpstr>Report on Total bikes booked: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 tyagi</dc:creator>
  <cp:lastModifiedBy>anjali tyagi</cp:lastModifiedBy>
  <cp:revision>1</cp:revision>
  <dcterms:created xsi:type="dcterms:W3CDTF">2026-03-25T11:44:55Z</dcterms:created>
  <dcterms:modified xsi:type="dcterms:W3CDTF">2026-03-25T11:46:53Z</dcterms:modified>
</cp:coreProperties>
</file>